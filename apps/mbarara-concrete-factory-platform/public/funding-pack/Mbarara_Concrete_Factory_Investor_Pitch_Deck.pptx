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Funding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6858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Aptos"/>
              </a:defRPr>
            </a:pPr>
            <a:r>
              <a:t>UGX 130M to launch a lean concrete products factory in Mbarara, Uganda.</a:t>
            </a:r>
          </a:p>
        </p:txBody>
      </p:sp>
      <p:pic>
        <p:nvPicPr>
          <p:cNvPr id="5" name="Picture 4" descr="mbarara-factory-y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502920"/>
            <a:ext cx="658368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4800600"/>
            <a:ext cx="2651760" cy="749808"/>
          </a:xfrm>
          <a:prstGeom prst="roundRect">
            <a:avLst/>
          </a:prstGeom>
          <a:solidFill>
            <a:srgbClr val="F6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4892040"/>
            <a:ext cx="2432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Funding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5102352"/>
            <a:ext cx="243230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24D"/>
                </a:solidFill>
                <a:latin typeface="Aptos"/>
              </a:defRPr>
            </a:pPr>
            <a:r>
              <a:t>UGX 130,000,000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800600"/>
            <a:ext cx="2651760" cy="749808"/>
          </a:xfrm>
          <a:prstGeom prst="roundRect">
            <a:avLst/>
          </a:prstGeom>
          <a:solidFill>
            <a:srgbClr val="F6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4892040"/>
            <a:ext cx="2432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Phase 1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5102352"/>
            <a:ext cx="243230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24D"/>
                </a:solidFill>
                <a:latin typeface="Aptos"/>
              </a:defRPr>
            </a:pPr>
            <a:r>
              <a:t>UGX 128,000,000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4800600"/>
            <a:ext cx="2194560" cy="749808"/>
          </a:xfrm>
          <a:prstGeom prst="roundRect">
            <a:avLst/>
          </a:prstGeom>
          <a:solidFill>
            <a:srgbClr val="F6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892040"/>
            <a:ext cx="1975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Buffer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02352"/>
            <a:ext cx="197510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24D"/>
                </a:solidFill>
                <a:latin typeface="Aptos"/>
              </a:defRPr>
            </a:pPr>
            <a:r>
              <a:t>UGX 2,000,000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1911095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856231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Phase 1 cost: UGX 128M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2350008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295144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Protected buffer: UGX 2M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2788920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734056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Profit target: UGX 20M per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Mbarara Integrated Concrete Products Factory | Funding Pack | 2026-07-09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Founder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6858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Aptos"/>
              </a:defRPr>
            </a:pPr>
            <a:r>
              <a:t>Hillary Arindamukama is a 25-year-old FAU Clean Energy Processes student building a practical manufacturing venture for Western Uganda.</a:t>
            </a:r>
          </a:p>
        </p:txBody>
      </p:sp>
      <p:pic>
        <p:nvPicPr>
          <p:cNvPr id="5" name="Picture 4" descr="managing-dir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685800"/>
            <a:ext cx="2415302" cy="5257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" y="1911095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56231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International student founder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350008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295144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Engineering and energy process background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788920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734056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Mission: jobs, quality, and disciplined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Mbarara Integrated Concrete Products Factory | Funding Pack | 2026-07-09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6858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Aptos"/>
              </a:defRPr>
            </a:pPr>
            <a:r>
              <a:t>Western Uganda construction demand is growing, but supply is fragmented, quality is inconsistent, and delivery reliability is weak.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911095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56231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Contractors need reliable blocks and pavers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350008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9514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Hardware stores need predictable supply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788920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3405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Projects need documented batch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051560"/>
            <a:ext cx="324612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466344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Aptos"/>
              </a:defRPr>
            </a:pPr>
            <a:r>
              <a:t>Data confidence: Estimated / Quotation Required. Re-verify all market and quotation data before investment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Mbarara Integrated Concrete Products Factory | Funding Pack | 2026-07-09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6858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Aptos"/>
              </a:defRPr>
            </a:pPr>
            <a:r>
              <a:t>A lean, quality-controlled factory producing blocks, pavers and kerbstones first, then expanding into heavy precast and ready-mix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911095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56231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Batch IDs and test certificates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350008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9514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Inventory, ERP, QC and market intelligence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788920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3405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Direct-to-site sales and delivery coordination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051560"/>
            <a:ext cx="324612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466344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Aptos"/>
              </a:defRPr>
            </a:pPr>
            <a:r>
              <a:t>Data confidence: Estimated / Quotation Required. Re-verify all market and quotation data before investment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Mbarara Integrated Concrete Products Factory | Funding Pack | 2026-07-09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Phase 1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6858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Aptos"/>
              </a:defRPr>
            </a:pPr>
            <a:r>
              <a:t>Manufacture only the essentials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911095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56231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6-inch hollow blocks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350008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9514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8-inch hollow blocks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788920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3405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solid blocks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227832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1729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60 mm pavers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666744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1187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80 mm pavers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105655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50791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kerbstones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051560"/>
            <a:ext cx="324612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466344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Aptos"/>
              </a:defRPr>
            </a:pPr>
            <a:r>
              <a:t>Data confidence: Estimated / Quotation Required. Re-verify all market and quotation data before investment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Mbarara Integrated Concrete Products Factory | Funding Pack | 2026-07-09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6858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Aptos"/>
              </a:defRPr>
            </a:pPr>
            <a:r>
              <a:t>The UGX 130M budget is designed around necessity, not luxury.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475488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1671637" cy="22860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847088"/>
            <a:ext cx="5760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Semi-automatic block/paver machine, mixer, v - UGX 45,000,000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40279"/>
            <a:ext cx="475488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240279"/>
            <a:ext cx="520065" cy="2286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2212848"/>
            <a:ext cx="5760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Starter moulds: 6-inch, 8-inch, solid, 60 mm - UGX 14,000,000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06039"/>
            <a:ext cx="475488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606039"/>
            <a:ext cx="520065" cy="2286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578608"/>
            <a:ext cx="5760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Site preparation, curing yard, drainage, bas - UGX 14,000,000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971799"/>
            <a:ext cx="475488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971799"/>
            <a:ext cx="260032" cy="2286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944368"/>
            <a:ext cx="5760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Electrical and water connection setup - UGX 7,000,000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337559"/>
            <a:ext cx="475488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37559"/>
            <a:ext cx="297180" cy="2286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3310127"/>
            <a:ext cx="5760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Pallets, wheelbarrows, hand tools, racks, sa - UGX 8,000,000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703320"/>
            <a:ext cx="475488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703320"/>
            <a:ext cx="891540" cy="22860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3675887"/>
            <a:ext cx="5760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Starter raw materials and packaging - UGX 24,000,000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069080"/>
            <a:ext cx="475488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069080"/>
            <a:ext cx="148590" cy="2286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4041648"/>
            <a:ext cx="5760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Permits, basic laboratory tools, compliance  - UGX 4,000,000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34840"/>
            <a:ext cx="475488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434840"/>
            <a:ext cx="260032" cy="2286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4407408"/>
            <a:ext cx="5760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Launch labour, security, administration - UGX 7,000,000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800600"/>
            <a:ext cx="475488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800600"/>
            <a:ext cx="137160" cy="2286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3560" y="4773168"/>
            <a:ext cx="5760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Sales, local transport, customer visits - UGX 3,000,000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166360"/>
            <a:ext cx="475488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5166360"/>
            <a:ext cx="137160" cy="2286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60" y="5138928"/>
            <a:ext cx="5760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Unallocated cash buffer - UGX 2,000,000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5111496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05663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Semi-automatic block/paver machine, mixer, vibrator: UGX 45,000,000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5550407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49554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Starter moulds: 6-inch, 8-inch, solid, 60 mm, 80 mm, kerbstone: UGX 14,000,000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" y="5989320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93445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Site preparation, curing yard, drainage, basic shed works: UGX 14,000,000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Mbarara Integrated Concrete Products Factory | Funding Pack | 2026-07-09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6858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Aptos"/>
              </a:defRPr>
            </a:pPr>
            <a:r>
              <a:t>Using the app costing model, the Phase 1 sales scenario reaches the target.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2834640" cy="749808"/>
          </a:xfrm>
          <a:prstGeom prst="roundRect">
            <a:avLst/>
          </a:prstGeom>
          <a:solidFill>
            <a:srgbClr val="F6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057400"/>
            <a:ext cx="26151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Monthly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267712"/>
            <a:ext cx="261518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24D"/>
                </a:solidFill>
                <a:latin typeface="Aptos"/>
              </a:defRPr>
            </a:pPr>
            <a:r>
              <a:t>UGX 140,020,000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7" y="1965960"/>
            <a:ext cx="2834640" cy="749808"/>
          </a:xfrm>
          <a:prstGeom prst="roundRect">
            <a:avLst/>
          </a:prstGeom>
          <a:solidFill>
            <a:srgbClr val="F6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2057400"/>
            <a:ext cx="26151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Net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5615" y="2267712"/>
            <a:ext cx="261518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24D"/>
                </a:solidFill>
                <a:latin typeface="Aptos"/>
              </a:defRPr>
            </a:pPr>
            <a:r>
              <a:t>UGX 36,092,578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3408" y="1965960"/>
            <a:ext cx="1828800" cy="749808"/>
          </a:xfrm>
          <a:prstGeom prst="roundRect">
            <a:avLst/>
          </a:prstGeom>
          <a:solidFill>
            <a:srgbClr val="F6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03136" y="2057400"/>
            <a:ext cx="16093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Target reached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2267712"/>
            <a:ext cx="160934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24D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965960"/>
            <a:ext cx="2011680" cy="749808"/>
          </a:xfrm>
          <a:prstGeom prst="roundRect">
            <a:avLst/>
          </a:prstGeom>
          <a:solidFill>
            <a:srgbClr val="F6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42248" y="2057400"/>
            <a:ext cx="17922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Aptos"/>
              </a:defRPr>
            </a:pPr>
            <a:r>
              <a:t>ROI estimate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2267712"/>
            <a:ext cx="179222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24D"/>
                </a:solidFill>
                <a:latin typeface="Aptos"/>
              </a:defRPr>
            </a:pPr>
            <a:r>
              <a:t>338.4%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099816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04495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Monthly revenue: UGX 140,020,000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538728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48386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Net profit: UGX 36,092,578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977640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92277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Break-even revenue: UGX 39,334,142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416552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61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ROI estimate: 338.4% annualised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Mbarara Integrated Concrete Products Factory | Funding Pack | 2026-07-09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Customers and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6858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Aptos"/>
              </a:defRPr>
            </a:pPr>
            <a:r>
              <a:t>First campaign focuses on Mbarara City and Western Uganda customers with repeat construction demand.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911095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56231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Contractors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350008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9514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Hardware stores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788920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3405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Property developers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227832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1729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Schools and hospitals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666744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1187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Fuel stations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105655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50791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Government projects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544568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48970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NGOs and churches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4983480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92861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Hotels and residential builders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1051560"/>
            <a:ext cx="324612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66344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Aptos"/>
              </a:defRPr>
            </a:pPr>
            <a:r>
              <a:t>Data confidence: Estimated / Quotation Required. Re-verify all market and quotation data before investment decisions.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Mbarara Integrated Concrete Products Factory | Funding Pack |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Risk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6858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Aptos"/>
              </a:defRPr>
            </a:pPr>
            <a:r>
              <a:t>The plan is feasible only if pricing, procurement, curing, credit control and quality testing are managed tightly.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911095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56231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Quotation risk: Re-verify machinery, raw material and market prices before investment close.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350008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9514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Cement price volatility: Use supplier comparisons, minimum gross margin rules and bulk purchasing.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788920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3405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Quality failure: Batch IDs, curing logs, compressive tests and rejection controls from day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227832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1729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Cash collection: Deposits before production, balances before delivery, customer ledger discipline.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666744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1187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Premature expansion: Defer ready-mix, culverts and heavy precast until cash flow supports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051560"/>
            <a:ext cx="324612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66344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Aptos"/>
              </a:defRPr>
            </a:pPr>
            <a:r>
              <a:t>Data confidence: Estimated / Quotation Required. Re-verify all market and quotation data before investment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Mbarara Integrated Concrete Products Factory | Funding Pack | 2026-07-09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Funding Ask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6858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Aptos"/>
              </a:defRPr>
            </a:pPr>
            <a:r>
              <a:t>Raise UGX 130M, verify quotations, secure a site, order essential machinery, launch first sales campaign, and report monthly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911095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56231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https://mbarara-concrete-factory.netlify.app/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350008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9514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https://mbarara-concrete-factory.netlify.app/Mbarara_Integrated_Concrete_Factory_Master_Report.pdf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788920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3405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Email: arindahillary222@gmail.com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227832"/>
            <a:ext cx="91440" cy="91440"/>
          </a:xfrm>
          <a:prstGeom prst="rect">
            <a:avLst/>
          </a:prstGeom>
          <a:solidFill>
            <a:srgbClr val="B7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1729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7324D"/>
                </a:solidFill>
                <a:latin typeface="Aptos"/>
              </a:defRPr>
            </a:pPr>
            <a:r>
              <a:t>WhatsApp: +4915751996877 / +256700194482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051560"/>
            <a:ext cx="324612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66344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Aptos"/>
              </a:defRPr>
            </a:pPr>
            <a:r>
              <a:t>Data confidence: Estimated / Quotation Required. Re-verify all market and quotation data before investment decisions.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Mbarara Integrated Concrete Products Factory | Funding Pack | 2026-07-09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